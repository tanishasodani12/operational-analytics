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Now Bold" charset="1" panose="00000800000000000000"/>
      <p:regular r:id="rId28"/>
    </p:embeddedFont>
    <p:embeddedFont>
      <p:font typeface="Now" charset="1" panose="00000500000000000000"/>
      <p:regular r:id="rId29"/>
    </p:embeddedFont>
    <p:embeddedFont>
      <p:font typeface="Raleway Bold" charset="1" panose="020B08030301010600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69185"/>
            <a:ext cx="5957354" cy="8317815"/>
          </a:xfrm>
          <a:custGeom>
            <a:avLst/>
            <a:gdLst/>
            <a:ahLst/>
            <a:cxnLst/>
            <a:rect r="r" b="b" t="t" l="l"/>
            <a:pathLst>
              <a:path h="8317815" w="5957354">
                <a:moveTo>
                  <a:pt x="0" y="0"/>
                </a:moveTo>
                <a:lnTo>
                  <a:pt x="5957354" y="0"/>
                </a:lnTo>
                <a:lnTo>
                  <a:pt x="5957354" y="8317815"/>
                </a:lnTo>
                <a:lnTo>
                  <a:pt x="0" y="8317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1098" y="1075348"/>
            <a:ext cx="14985804" cy="207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9"/>
              </a:lnSpc>
            </a:pPr>
            <a:r>
              <a:rPr lang="en-US" b="true" sz="72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OPE</a:t>
            </a:r>
            <a:r>
              <a:rPr lang="en-US" b="true" sz="72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RATION ANALYTICS AND INVESTIGATING METRIC SPIKE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685515"/>
            <a:ext cx="182880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99"/>
              </a:lnSpc>
            </a:pPr>
            <a:r>
              <a:rPr lang="en-US" sz="45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SUBMITTED BY</a:t>
            </a:r>
            <a:r>
              <a:rPr lang="en-US" sz="4599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 Tanisha Sodani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846552"/>
            <a:ext cx="18288000" cy="73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9"/>
              </a:lnSpc>
              <a:spcBef>
                <a:spcPct val="0"/>
              </a:spcBef>
            </a:pPr>
            <a:r>
              <a:rPr lang="en-US" sz="45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COURSE: MySQL – Trainity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5912082"/>
            <a:ext cx="18288000" cy="73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9"/>
              </a:lnSpc>
              <a:spcBef>
                <a:spcPct val="0"/>
              </a:spcBef>
            </a:pPr>
            <a:r>
              <a:rPr lang="en-US" sz="45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TOOLS USED: MySQL Workbench, SQL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6977612"/>
            <a:ext cx="18288000" cy="73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9"/>
              </a:lnSpc>
              <a:spcBef>
                <a:spcPct val="0"/>
              </a:spcBef>
            </a:pPr>
            <a:r>
              <a:rPr lang="en-US" sz="45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DATE: JUNE 27,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991437" y="0"/>
            <a:ext cx="7296563" cy="10187654"/>
          </a:xfrm>
          <a:custGeom>
            <a:avLst/>
            <a:gdLst/>
            <a:ahLst/>
            <a:cxnLst/>
            <a:rect r="r" b="b" t="t" l="l"/>
            <a:pathLst>
              <a:path h="10187654" w="7296563">
                <a:moveTo>
                  <a:pt x="7296563" y="0"/>
                </a:moveTo>
                <a:lnTo>
                  <a:pt x="0" y="0"/>
                </a:lnTo>
                <a:lnTo>
                  <a:pt x="0" y="10187654"/>
                </a:lnTo>
                <a:lnTo>
                  <a:pt x="7296563" y="10187654"/>
                </a:lnTo>
                <a:lnTo>
                  <a:pt x="72965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29886"/>
            <a:ext cx="15742969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00"/>
              </a:lnSpc>
            </a:pPr>
            <a:r>
              <a:rPr lang="en-US" b="true" sz="95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CONTE</a:t>
            </a:r>
            <a:r>
              <a:rPr lang="en-US" b="true" sz="95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06602"/>
            <a:ext cx="16230600" cy="753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8369" indent="-464185" lvl="1">
              <a:lnSpc>
                <a:spcPts val="773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</a:t>
            </a:r>
            <a:r>
              <a:rPr lang="en-US" sz="4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roject Description</a:t>
            </a:r>
          </a:p>
          <a:p>
            <a:pPr algn="just" marL="928369" indent="-464185" lvl="1">
              <a:lnSpc>
                <a:spcPts val="773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Tech Stack Used</a:t>
            </a:r>
          </a:p>
          <a:p>
            <a:pPr algn="just" marL="928369" indent="-464185" lvl="1">
              <a:lnSpc>
                <a:spcPts val="773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Approach</a:t>
            </a:r>
          </a:p>
          <a:p>
            <a:pPr algn="just" marL="928369" indent="-464185" lvl="1">
              <a:lnSpc>
                <a:spcPts val="773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</a:t>
            </a:r>
            <a:r>
              <a:rPr lang="en-US" sz="4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 Study 1: Job Data Analysis</a:t>
            </a:r>
          </a:p>
          <a:p>
            <a:pPr algn="just" marL="928369" indent="-464185" lvl="1">
              <a:lnSpc>
                <a:spcPts val="773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Case Study 2: Investigating Metric Spike</a:t>
            </a:r>
          </a:p>
          <a:p>
            <a:pPr algn="just" marL="928369" indent="-464185" lvl="1">
              <a:lnSpc>
                <a:spcPts val="773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Insights</a:t>
            </a:r>
          </a:p>
          <a:p>
            <a:pPr algn="just" marL="928369" indent="-464185" lvl="1">
              <a:lnSpc>
                <a:spcPts val="773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Result</a:t>
            </a:r>
          </a:p>
          <a:p>
            <a:pPr algn="just" marL="0" indent="0" lvl="0">
              <a:lnSpc>
                <a:spcPts val="562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68327"/>
            <a:ext cx="1623060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00"/>
              </a:lnSpc>
            </a:pPr>
            <a:r>
              <a:rPr lang="en-US" b="true" sz="95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PROJECT DESCRIPTION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7870" y="2082049"/>
            <a:ext cx="16052259" cy="756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2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project focuses on Operational Analytics and Investigating Metric Spikes using Advanced SQL. As a Data Analyst, the goal is to work with different teams to analyze data and provide valuable insights.</a:t>
            </a:r>
          </a:p>
          <a:p>
            <a:pPr algn="just">
              <a:lnSpc>
                <a:spcPts val="522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project includes two case studies: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Case Study 1 – Job Data Analysis: Focuses on analyzing job data to calculate job reviews over time, throughput, language share, and identify duplicate rows.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Case Study 2 – Metric Spike Investigation: Involves investigating sudden changes in key user metrics such as user engagement, growth, retention, device-wise activity, and email interaction.</a:t>
            </a:r>
          </a:p>
          <a:p>
            <a:pPr algn="just">
              <a:lnSpc>
                <a:spcPts val="522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main objective is to write SQL queries to extract insights from the data and present them in a simple and clear report.</a:t>
            </a:r>
          </a:p>
          <a:p>
            <a:pPr algn="just" marL="0" indent="0" lvl="0">
              <a:lnSpc>
                <a:spcPts val="269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90575"/>
            <a:ext cx="1623060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95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TECH-STACK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96447"/>
            <a:ext cx="16230600" cy="261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78"/>
              </a:lnSpc>
            </a:pPr>
            <a:r>
              <a:rPr lang="en-US" sz="2932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💻 MySQL Workbench </a:t>
            </a:r>
          </a:p>
          <a:p>
            <a:pPr algn="just" marL="0" indent="0" lvl="0">
              <a:lnSpc>
                <a:spcPts val="5278"/>
              </a:lnSpc>
            </a:pPr>
            <a:r>
              <a:rPr lang="en-US" sz="293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 used MySQL Workbench to write and execute all the SQL queries throughout the project. Its user-friendly int</a:t>
            </a:r>
            <a:r>
              <a:rPr lang="en-US" sz="293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erface made it easy to manage the database, visualize the data, and debug queries effectively.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61914"/>
            <a:ext cx="16230600" cy="261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74"/>
              </a:lnSpc>
            </a:pPr>
            <a:r>
              <a:rPr lang="en-US" sz="293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🗂️ </a:t>
            </a:r>
            <a:r>
              <a:rPr lang="en-US" b="true" sz="293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(Structured Query Language) </a:t>
            </a:r>
          </a:p>
          <a:p>
            <a:pPr algn="just">
              <a:lnSpc>
                <a:spcPts val="5274"/>
              </a:lnSpc>
            </a:pPr>
            <a:r>
              <a:rPr lang="en-US" sz="293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SQL was the main tool I used for retrieving, filtering, and analyzing data. It helped me answer business questions by writing precise and well-structured queries that turned raw data into meaningful insights.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1080"/>
            <a:ext cx="1623060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95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3382" y="2940225"/>
            <a:ext cx="13812155" cy="471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0"/>
              </a:lnSpc>
            </a:pPr>
            <a:r>
              <a:rPr lang="en-US" b="true" sz="293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Step-by-step process followed:</a:t>
            </a:r>
          </a:p>
          <a:p>
            <a:pPr algn="just">
              <a:lnSpc>
                <a:spcPts val="5274"/>
              </a:lnSpc>
            </a:pPr>
            <a:r>
              <a:rPr lang="en-US" sz="293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📁</a:t>
            </a:r>
            <a:r>
              <a:rPr lang="en-US" sz="293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Imported the CSV files and set up the tables in MySQL Workbench</a:t>
            </a:r>
          </a:p>
          <a:p>
            <a:pPr algn="just">
              <a:lnSpc>
                <a:spcPts val="5274"/>
              </a:lnSpc>
            </a:pPr>
            <a:r>
              <a:rPr lang="en-US" sz="293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🛠️ Wrote SQL queries to solve each task from both case studies</a:t>
            </a:r>
          </a:p>
          <a:p>
            <a:pPr algn="just">
              <a:lnSpc>
                <a:spcPts val="5274"/>
              </a:lnSpc>
            </a:pPr>
            <a:r>
              <a:rPr lang="en-US" sz="293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📊 Analyzed query results to identify trends, spikes, and patterns</a:t>
            </a:r>
          </a:p>
          <a:p>
            <a:pPr algn="just">
              <a:lnSpc>
                <a:spcPts val="5274"/>
              </a:lnSpc>
            </a:pPr>
            <a:r>
              <a:rPr lang="en-US" sz="293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🧠 Explored user behavior and performance metrics to find key insights</a:t>
            </a:r>
          </a:p>
          <a:p>
            <a:pPr algn="just">
              <a:lnSpc>
                <a:spcPts val="5274"/>
              </a:lnSpc>
            </a:pPr>
            <a:r>
              <a:rPr lang="en-US" sz="293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🖼️ Took screenshots of SQL queries and output tables for documentation</a:t>
            </a:r>
          </a:p>
          <a:p>
            <a:pPr algn="just">
              <a:lnSpc>
                <a:spcPts val="5274"/>
              </a:lnSpc>
            </a:pPr>
            <a:r>
              <a:rPr lang="en-US" sz="293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📝 Summarized insights and organized the findings into a clear report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62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330646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508556"/>
            <a:ext cx="16230600" cy="338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94"/>
              </a:lnSpc>
            </a:pPr>
            <a:r>
              <a:rPr lang="en-US" b="true" sz="11995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CASE STUDY 1: JOB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70781"/>
            <a:ext cx="16230600" cy="190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JOBS REVIEWED OVER TIME </a:t>
            </a:r>
          </a:p>
          <a:p>
            <a:pPr algn="ctr">
              <a:lnSpc>
                <a:spcPts val="6599"/>
              </a:lnSpc>
            </a:pPr>
            <a:r>
              <a:rPr lang="en-US" b="true" sz="54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52064"/>
            <a:ext cx="16230600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8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</a:t>
            </a: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  <a:p>
            <a:pPr algn="l">
              <a:lnSpc>
                <a:spcPts val="434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Calculate the number of jobs reviewed per hour for each day in November 2020.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127474"/>
            <a:ext cx="16230600" cy="164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Observation</a:t>
            </a:r>
            <a:r>
              <a:rPr lang="en-US" b="true" sz="29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just" marL="626111" indent="-313055" lvl="1">
              <a:lnSpc>
                <a:spcPts val="435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ds column only contains date (MM/DD/YYYY) format as text.</a:t>
            </a:r>
          </a:p>
          <a:p>
            <a:pPr algn="just" marL="626111" indent="-313055" lvl="1">
              <a:lnSpc>
                <a:spcPts val="435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There’s no timestamp (hour-level) data in the dataset. So, hourly analysis isn't possible.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080493"/>
            <a:ext cx="16230600" cy="164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Alt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ernative Approach:</a:t>
            </a:r>
          </a:p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Perform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ed a daily review count instead, focusing on event = 'decision' to represent reviewed jobs.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033512"/>
            <a:ext cx="16230600" cy="164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Handling: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Used STR_TO_DATE(ds, '%m/%d/%Y') to convert the text date into proper DATE format for filtering and grouping.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195474"/>
            <a:ext cx="6933595" cy="3644720"/>
          </a:xfrm>
          <a:custGeom>
            <a:avLst/>
            <a:gdLst/>
            <a:ahLst/>
            <a:cxnLst/>
            <a:rect r="r" b="b" t="t" l="l"/>
            <a:pathLst>
              <a:path h="3644720" w="6933595">
                <a:moveTo>
                  <a:pt x="0" y="0"/>
                </a:moveTo>
                <a:lnTo>
                  <a:pt x="6933595" y="0"/>
                </a:lnTo>
                <a:lnTo>
                  <a:pt x="6933595" y="3644720"/>
                </a:lnTo>
                <a:lnTo>
                  <a:pt x="0" y="3644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74325" y="3876137"/>
            <a:ext cx="6191212" cy="2283394"/>
          </a:xfrm>
          <a:custGeom>
            <a:avLst/>
            <a:gdLst/>
            <a:ahLst/>
            <a:cxnLst/>
            <a:rect r="r" b="b" t="t" l="l"/>
            <a:pathLst>
              <a:path h="2283394" w="6191212">
                <a:moveTo>
                  <a:pt x="0" y="0"/>
                </a:moveTo>
                <a:lnTo>
                  <a:pt x="6191212" y="0"/>
                </a:lnTo>
                <a:lnTo>
                  <a:pt x="6191212" y="2283394"/>
                </a:lnTo>
                <a:lnTo>
                  <a:pt x="0" y="2283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6773" b="-6428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70781"/>
            <a:ext cx="16230600" cy="190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JOBS REVIEWED OVER TIME </a:t>
            </a:r>
          </a:p>
          <a:p>
            <a:pPr algn="ctr">
              <a:lnSpc>
                <a:spcPts val="6599"/>
              </a:lnSpc>
            </a:pPr>
            <a:r>
              <a:rPr lang="en-US" b="true" sz="54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&amp; INS</a:t>
            </a:r>
            <a:r>
              <a:rPr lang="en-US" b="true" sz="54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29664"/>
            <a:ext cx="6933595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Query Used</a:t>
            </a: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989445"/>
            <a:ext cx="16230600" cy="319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l" marL="606744" indent="-303372" lvl="1">
              <a:lnSpc>
                <a:spcPts val="4215"/>
              </a:lnSpc>
              <a:buFont typeface="Arial"/>
              <a:buChar char="•"/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Jobs were reviewed only on 3 days: November 27, 28, and 29.</a:t>
            </a:r>
          </a:p>
          <a:p>
            <a:pPr algn="l" marL="606744" indent="-303372" lvl="1">
              <a:lnSpc>
                <a:spcPts val="4215"/>
              </a:lnSpc>
              <a:buFont typeface="Arial"/>
              <a:buChar char="•"/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indicates low review activity during the month.</a:t>
            </a:r>
          </a:p>
          <a:p>
            <a:pPr algn="l" marL="606744" indent="-303372" lvl="1">
              <a:lnSpc>
                <a:spcPts val="4215"/>
              </a:lnSpc>
              <a:buFont typeface="Arial"/>
              <a:buChar char="•"/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While hourly trends couldn’t be analyzed, this daily view helps identify patterns and inactive periods.</a:t>
            </a:r>
          </a:p>
          <a:p>
            <a:pPr algn="l">
              <a:lnSpc>
                <a:spcPts val="421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774325" y="2618714"/>
            <a:ext cx="619121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Output: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109666"/>
            <a:ext cx="5178537" cy="5148634"/>
          </a:xfrm>
          <a:custGeom>
            <a:avLst/>
            <a:gdLst/>
            <a:ahLst/>
            <a:cxnLst/>
            <a:rect r="r" b="b" t="t" l="l"/>
            <a:pathLst>
              <a:path h="5148634" w="5178537">
                <a:moveTo>
                  <a:pt x="0" y="0"/>
                </a:moveTo>
                <a:lnTo>
                  <a:pt x="5178537" y="0"/>
                </a:lnTo>
                <a:lnTo>
                  <a:pt x="5178537" y="5148634"/>
                </a:lnTo>
                <a:lnTo>
                  <a:pt x="0" y="5148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70" t="-12" r="-97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52515" y="4392449"/>
            <a:ext cx="6757661" cy="2291202"/>
          </a:xfrm>
          <a:custGeom>
            <a:avLst/>
            <a:gdLst/>
            <a:ahLst/>
            <a:cxnLst/>
            <a:rect r="r" b="b" t="t" l="l"/>
            <a:pathLst>
              <a:path h="2291202" w="6757661">
                <a:moveTo>
                  <a:pt x="0" y="0"/>
                </a:moveTo>
                <a:lnTo>
                  <a:pt x="6757661" y="0"/>
                </a:lnTo>
                <a:lnTo>
                  <a:pt x="6757661" y="2291202"/>
                </a:lnTo>
                <a:lnTo>
                  <a:pt x="0" y="2291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873" t="0" r="-687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87019"/>
            <a:ext cx="16230600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THROUGHPUT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01005"/>
            <a:ext cx="5178537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Query Used</a:t>
            </a: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65479" y="7090606"/>
            <a:ext cx="9893821" cy="216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💡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rolling average made it easier to see how throughput was really performing, without getting distracted by sudden daily changes.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18782" y="3486730"/>
            <a:ext cx="619121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Output: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56689"/>
            <a:ext cx="16230600" cy="164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Objective:</a:t>
            </a:r>
          </a:p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Calculate the 7-day rolling average of throughput (number of events per second) for each day.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87011"/>
            <a:ext cx="16230600" cy="209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b="true" sz="75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THROUGHPUT ANALYSIS – </a:t>
            </a:r>
          </a:p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PREFERRED METRIC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40416" y="3121778"/>
            <a:ext cx="12760174" cy="468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05"/>
              </a:lnSpc>
            </a:pPr>
            <a:r>
              <a:rPr lang="en-US" b="true" sz="3152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 prefe</a:t>
            </a:r>
            <a:r>
              <a:rPr lang="en-US" b="true" sz="3152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 the 7-day rolling average over the daily metric because:</a:t>
            </a:r>
          </a:p>
          <a:p>
            <a:pPr algn="just">
              <a:lnSpc>
                <a:spcPts val="6242"/>
              </a:lnSpc>
            </a:pPr>
            <a:r>
              <a:rPr lang="en-US" sz="312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📉 It reduces the impact of random daily spikes or drops</a:t>
            </a:r>
          </a:p>
          <a:p>
            <a:pPr algn="just">
              <a:lnSpc>
                <a:spcPts val="6242"/>
              </a:lnSpc>
            </a:pPr>
            <a:r>
              <a:rPr lang="en-US" sz="312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📊 Shows a smoother and more consistent performance trend</a:t>
            </a:r>
          </a:p>
          <a:p>
            <a:pPr algn="just">
              <a:lnSpc>
                <a:spcPts val="6242"/>
              </a:lnSpc>
            </a:pPr>
            <a:r>
              <a:rPr lang="en-US" sz="312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📈 Helps identify long-term patterns more effectively</a:t>
            </a:r>
          </a:p>
          <a:p>
            <a:pPr algn="just">
              <a:lnSpc>
                <a:spcPts val="6242"/>
              </a:lnSpc>
            </a:pPr>
            <a:r>
              <a:rPr lang="en-US" sz="312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🧠 Provides a more reliable view for operational decision-making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0268" y="3996766"/>
            <a:ext cx="4955402" cy="5572814"/>
          </a:xfrm>
          <a:custGeom>
            <a:avLst/>
            <a:gdLst/>
            <a:ahLst/>
            <a:cxnLst/>
            <a:rect r="r" b="b" t="t" l="l"/>
            <a:pathLst>
              <a:path h="5572814" w="4955402">
                <a:moveTo>
                  <a:pt x="0" y="0"/>
                </a:moveTo>
                <a:lnTo>
                  <a:pt x="4955401" y="0"/>
                </a:lnTo>
                <a:lnTo>
                  <a:pt x="4955401" y="5572814"/>
                </a:lnTo>
                <a:lnTo>
                  <a:pt x="0" y="5572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9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996766"/>
            <a:ext cx="5620181" cy="2914099"/>
          </a:xfrm>
          <a:custGeom>
            <a:avLst/>
            <a:gdLst/>
            <a:ahLst/>
            <a:cxnLst/>
            <a:rect r="r" b="b" t="t" l="l"/>
            <a:pathLst>
              <a:path h="2914099" w="5620181">
                <a:moveTo>
                  <a:pt x="0" y="0"/>
                </a:moveTo>
                <a:lnTo>
                  <a:pt x="5620181" y="0"/>
                </a:lnTo>
                <a:lnTo>
                  <a:pt x="5620181" y="2914099"/>
                </a:lnTo>
                <a:lnTo>
                  <a:pt x="0" y="2914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794" t="-1742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87019"/>
            <a:ext cx="16230600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LANGUAGE SHARE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79073"/>
            <a:ext cx="5178537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Query Used</a:t>
            </a: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65479" y="7349015"/>
            <a:ext cx="9893821" cy="216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💡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ersian had the highest share at 37.5%, while English, Arabic, Hindi, French, and Italian each had 12.5%, showing Persian was the most used language recently.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264798"/>
            <a:ext cx="56201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Output: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56689"/>
            <a:ext cx="162306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Objective:</a:t>
            </a:r>
          </a:p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Calculate the percentage share of each language in the last 30 days of available data.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6184" y="4221108"/>
            <a:ext cx="6332332" cy="2860800"/>
          </a:xfrm>
          <a:custGeom>
            <a:avLst/>
            <a:gdLst/>
            <a:ahLst/>
            <a:cxnLst/>
            <a:rect r="r" b="b" t="t" l="l"/>
            <a:pathLst>
              <a:path h="2860800" w="6332332">
                <a:moveTo>
                  <a:pt x="0" y="0"/>
                </a:moveTo>
                <a:lnTo>
                  <a:pt x="6332332" y="0"/>
                </a:lnTo>
                <a:lnTo>
                  <a:pt x="6332332" y="2860800"/>
                </a:lnTo>
                <a:lnTo>
                  <a:pt x="0" y="286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96740" y="4632291"/>
            <a:ext cx="6235014" cy="1022419"/>
          </a:xfrm>
          <a:custGeom>
            <a:avLst/>
            <a:gdLst/>
            <a:ahLst/>
            <a:cxnLst/>
            <a:rect r="r" b="b" t="t" l="l"/>
            <a:pathLst>
              <a:path h="1022419" w="6235014">
                <a:moveTo>
                  <a:pt x="0" y="0"/>
                </a:moveTo>
                <a:lnTo>
                  <a:pt x="6235014" y="0"/>
                </a:lnTo>
                <a:lnTo>
                  <a:pt x="6235014" y="1022418"/>
                </a:lnTo>
                <a:lnTo>
                  <a:pt x="0" y="1022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827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87019"/>
            <a:ext cx="16230600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DUPLICATE ROWS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6184" y="3179073"/>
            <a:ext cx="6332332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Query Used</a:t>
            </a: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793701"/>
            <a:ext cx="16230600" cy="161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💡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No duplicat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 rows were found in the dataset. This indicates that the data is clean and well-maintained, reducing the risk of repeated records affecting analysis results.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96740" y="3264798"/>
            <a:ext cx="610160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Output: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56689"/>
            <a:ext cx="162306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Objective:</a:t>
            </a:r>
          </a:p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Identify duplicate rows in the job_data table.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62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330646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672020"/>
            <a:ext cx="16230600" cy="505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94"/>
              </a:lnSpc>
            </a:pPr>
            <a:r>
              <a:rPr lang="en-US" b="true" sz="11995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CASE STUDY 2: INVESTIGATING METRIC SPIKE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3646" y="4593844"/>
            <a:ext cx="8050354" cy="2645280"/>
          </a:xfrm>
          <a:custGeom>
            <a:avLst/>
            <a:gdLst/>
            <a:ahLst/>
            <a:cxnLst/>
            <a:rect r="r" b="b" t="t" l="l"/>
            <a:pathLst>
              <a:path h="2645280" w="8050354">
                <a:moveTo>
                  <a:pt x="0" y="0"/>
                </a:moveTo>
                <a:lnTo>
                  <a:pt x="8050354" y="0"/>
                </a:lnTo>
                <a:lnTo>
                  <a:pt x="8050354" y="2645280"/>
                </a:lnTo>
                <a:lnTo>
                  <a:pt x="0" y="2645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66388" y="3953543"/>
            <a:ext cx="2562313" cy="3925883"/>
          </a:xfrm>
          <a:custGeom>
            <a:avLst/>
            <a:gdLst/>
            <a:ahLst/>
            <a:cxnLst/>
            <a:rect r="r" b="b" t="t" l="l"/>
            <a:pathLst>
              <a:path h="3925883" w="2562313">
                <a:moveTo>
                  <a:pt x="0" y="0"/>
                </a:moveTo>
                <a:lnTo>
                  <a:pt x="2562313" y="0"/>
                </a:lnTo>
                <a:lnTo>
                  <a:pt x="2562313" y="3925883"/>
                </a:lnTo>
                <a:lnTo>
                  <a:pt x="0" y="3925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87019"/>
            <a:ext cx="16230600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WEEKLY USER ENGAGEMENT: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79073"/>
            <a:ext cx="724277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Query Used</a:t>
            </a: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984201"/>
            <a:ext cx="16230600" cy="161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💡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ser engagement varied each week, helping identify when users were more or less active on the platform.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66388" y="3264798"/>
            <a:ext cx="256231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Output: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56689"/>
            <a:ext cx="162306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Objective:</a:t>
            </a:r>
          </a:p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Measure the activeness of users on a weekly basis.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8754" y="4600704"/>
            <a:ext cx="8946543" cy="2565750"/>
          </a:xfrm>
          <a:custGeom>
            <a:avLst/>
            <a:gdLst/>
            <a:ahLst/>
            <a:cxnLst/>
            <a:rect r="r" b="b" t="t" l="l"/>
            <a:pathLst>
              <a:path h="2565750" w="8946543">
                <a:moveTo>
                  <a:pt x="0" y="0"/>
                </a:moveTo>
                <a:lnTo>
                  <a:pt x="8946543" y="0"/>
                </a:lnTo>
                <a:lnTo>
                  <a:pt x="8946543" y="2565751"/>
                </a:lnTo>
                <a:lnTo>
                  <a:pt x="0" y="2565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04143" y="4047385"/>
            <a:ext cx="2976610" cy="3678105"/>
          </a:xfrm>
          <a:custGeom>
            <a:avLst/>
            <a:gdLst/>
            <a:ahLst/>
            <a:cxnLst/>
            <a:rect r="r" b="b" t="t" l="l"/>
            <a:pathLst>
              <a:path h="3678105" w="2976610">
                <a:moveTo>
                  <a:pt x="0" y="0"/>
                </a:moveTo>
                <a:lnTo>
                  <a:pt x="2976610" y="0"/>
                </a:lnTo>
                <a:lnTo>
                  <a:pt x="2976610" y="3678104"/>
                </a:lnTo>
                <a:lnTo>
                  <a:pt x="0" y="3678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87019"/>
            <a:ext cx="16230600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USER GROWTH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79073"/>
            <a:ext cx="9166597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Query Used</a:t>
            </a: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639764"/>
            <a:ext cx="16230600" cy="216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💡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show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 how many new users joined each month. It helps understand when user growth was high and when it slowed down, giving a clear picture of the platform’s growth over time.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04143" y="3259083"/>
            <a:ext cx="297661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Output: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56689"/>
            <a:ext cx="162306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Objective:</a:t>
            </a:r>
          </a:p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Analyze the growth of users over time for a product.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89477"/>
            <a:ext cx="1623060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</a:pPr>
            <a:r>
              <a:rPr lang="en-US" b="true" sz="68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WEEKLY RETENTION ANALYSIS</a:t>
            </a:r>
          </a:p>
          <a:p>
            <a:pPr algn="ctr">
              <a:lnSpc>
                <a:spcPts val="6599"/>
              </a:lnSpc>
            </a:pPr>
            <a:r>
              <a:rPr lang="en-US" b="true" sz="54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OVERVIEW &amp; LIMITATION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57355"/>
            <a:ext cx="162306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Objective:</a:t>
            </a:r>
          </a:p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Analyze the retention of users on a weekly basis after signing up for a product.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72835"/>
            <a:ext cx="16230600" cy="164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Note:</a:t>
            </a:r>
          </a:p>
          <a:p>
            <a:pPr algn="just">
              <a:lnSpc>
                <a:spcPts val="435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Due to mismatched user_id values between the users and events tables, actual retention analysis could not be performed.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541640"/>
            <a:ext cx="16230600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What I Would Have Done (Logic)</a:t>
            </a:r>
          </a:p>
          <a:p>
            <a:pPr algn="just" marL="626111" indent="-313055" lvl="1">
              <a:lnSpc>
                <a:spcPts val="435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Grouped users by their signup week (cohort)</a:t>
            </a:r>
          </a:p>
          <a:p>
            <a:pPr algn="just" marL="626111" indent="-313055" lvl="1">
              <a:lnSpc>
                <a:spcPts val="435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Tracked their activity in the weeks after signup</a:t>
            </a:r>
          </a:p>
          <a:p>
            <a:pPr algn="just" marL="626111" indent="-313055" lvl="1">
              <a:lnSpc>
                <a:spcPts val="435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Calculated how many returned each week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962895"/>
            <a:ext cx="16230600" cy="161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💡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approach show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 how long users stay active after joining, helping measure user stickiness and product impact over time.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6268" y="3887849"/>
            <a:ext cx="6947289" cy="6016362"/>
          </a:xfrm>
          <a:custGeom>
            <a:avLst/>
            <a:gdLst/>
            <a:ahLst/>
            <a:cxnLst/>
            <a:rect r="r" b="b" t="t" l="l"/>
            <a:pathLst>
              <a:path h="6016362" w="6947289">
                <a:moveTo>
                  <a:pt x="0" y="0"/>
                </a:moveTo>
                <a:lnTo>
                  <a:pt x="6947288" y="0"/>
                </a:lnTo>
                <a:lnTo>
                  <a:pt x="6947288" y="6016362"/>
                </a:lnTo>
                <a:lnTo>
                  <a:pt x="0" y="6016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9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3634"/>
            <a:ext cx="1623060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WEEKLY RETENTION ANALYSIS</a:t>
            </a:r>
          </a:p>
          <a:p>
            <a:pPr algn="ctr">
              <a:lnSpc>
                <a:spcPts val="6480"/>
              </a:lnSpc>
            </a:pPr>
            <a:r>
              <a:rPr lang="en-US" b="true" sz="54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SQL LOGIC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92599"/>
            <a:ext cx="4908050" cy="63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b="true" sz="35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Query Used</a:t>
            </a:r>
            <a:r>
              <a:rPr lang="en-US" sz="35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52278"/>
            <a:ext cx="16230600" cy="120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9"/>
              </a:lnSpc>
            </a:pPr>
            <a:r>
              <a:rPr lang="en-US" sz="3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📝 Thi</a:t>
            </a:r>
            <a:r>
              <a:rPr lang="en-US" sz="32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 query explains how retention would be calculated if the user data matched across tables.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93719" y="4986338"/>
            <a:ext cx="3365581" cy="3442290"/>
          </a:xfrm>
          <a:custGeom>
            <a:avLst/>
            <a:gdLst/>
            <a:ahLst/>
            <a:cxnLst/>
            <a:rect r="r" b="b" t="t" l="l"/>
            <a:pathLst>
              <a:path h="3442290" w="3365581">
                <a:moveTo>
                  <a:pt x="0" y="0"/>
                </a:moveTo>
                <a:lnTo>
                  <a:pt x="3365581" y="0"/>
                </a:lnTo>
                <a:lnTo>
                  <a:pt x="3365581" y="3442290"/>
                </a:lnTo>
                <a:lnTo>
                  <a:pt x="0" y="3442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0000">
            <a:off x="3056047" y="5390592"/>
            <a:ext cx="6407959" cy="2335824"/>
          </a:xfrm>
          <a:custGeom>
            <a:avLst/>
            <a:gdLst/>
            <a:ahLst/>
            <a:cxnLst/>
            <a:rect r="r" b="b" t="t" l="l"/>
            <a:pathLst>
              <a:path h="2335824" w="6407959">
                <a:moveTo>
                  <a:pt x="19898" y="0"/>
                </a:moveTo>
                <a:lnTo>
                  <a:pt x="6407959" y="55748"/>
                </a:lnTo>
                <a:lnTo>
                  <a:pt x="6388061" y="2335824"/>
                </a:lnTo>
                <a:lnTo>
                  <a:pt x="0" y="2280076"/>
                </a:lnTo>
                <a:lnTo>
                  <a:pt x="19898" y="0"/>
                </a:lnTo>
                <a:close/>
              </a:path>
            </a:pathLst>
          </a:custGeom>
          <a:blipFill>
            <a:blip r:embed="rId5"/>
            <a:stretch>
              <a:fillRect l="-357" t="-8" r="-12248" b="-1025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537" y="410819"/>
            <a:ext cx="16830926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WEEKLY ENGAGEMENT PER DEVICE: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65874" y="4492135"/>
            <a:ext cx="6388304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Query Used</a:t>
            </a: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811" y="8044945"/>
            <a:ext cx="12614374" cy="161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💡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Users e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ngaged with the platform using a variety of devices - mobile, desktop, and tablet.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93719" y="4355928"/>
            <a:ext cx="33655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Output: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0811" y="1523339"/>
            <a:ext cx="162306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Objective:</a:t>
            </a:r>
          </a:p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Measure the activeness of users on a weekly basis per device.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4640" y="2723343"/>
            <a:ext cx="16484823" cy="164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📝 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Note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  <a:p>
            <a:pPr algn="just">
              <a:lnSpc>
                <a:spcPts val="435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is a sample from week 2014-18 to show the format. The full output includes multiple weeks and device types.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8565" y="3961711"/>
            <a:ext cx="6412970" cy="3239713"/>
          </a:xfrm>
          <a:custGeom>
            <a:avLst/>
            <a:gdLst/>
            <a:ahLst/>
            <a:cxnLst/>
            <a:rect r="r" b="b" t="t" l="l"/>
            <a:pathLst>
              <a:path h="3239713" w="6412970">
                <a:moveTo>
                  <a:pt x="0" y="0"/>
                </a:moveTo>
                <a:lnTo>
                  <a:pt x="6412971" y="0"/>
                </a:lnTo>
                <a:lnTo>
                  <a:pt x="6412971" y="3239713"/>
                </a:lnTo>
                <a:lnTo>
                  <a:pt x="0" y="3239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2267" y="4211583"/>
            <a:ext cx="6977033" cy="2739968"/>
          </a:xfrm>
          <a:custGeom>
            <a:avLst/>
            <a:gdLst/>
            <a:ahLst/>
            <a:cxnLst/>
            <a:rect r="r" b="b" t="t" l="l"/>
            <a:pathLst>
              <a:path h="2739968" w="6977033">
                <a:moveTo>
                  <a:pt x="0" y="0"/>
                </a:moveTo>
                <a:lnTo>
                  <a:pt x="6977033" y="0"/>
                </a:lnTo>
                <a:lnTo>
                  <a:pt x="6977033" y="2739969"/>
                </a:lnTo>
                <a:lnTo>
                  <a:pt x="0" y="2739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8537" y="496252"/>
            <a:ext cx="16830926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EMAIL ENGAGEMENT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8565" y="3179073"/>
            <a:ext cx="641297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SQL Query Used</a:t>
            </a:r>
            <a:r>
              <a:rPr lang="en-US" sz="2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639764"/>
            <a:ext cx="16230600" cy="161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81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💡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</a:t>
            </a:r>
            <a:r>
              <a:rPr lang="en-US" b="true" sz="281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any users opened the emails, but fewer clicked on them. This shows there’s room to improve email content or subject lines to boost engagement.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2267" y="3264798"/>
            <a:ext cx="697703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Output: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56689"/>
            <a:ext cx="162306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🔹</a:t>
            </a: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Objective:</a:t>
            </a:r>
          </a:p>
          <a:p>
            <a:pPr algn="just">
              <a:lnSpc>
                <a:spcPts val="4350"/>
              </a:lnSpc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Analyze how users are engaging with the email service.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70879"/>
            <a:ext cx="1623060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95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65178"/>
            <a:ext cx="16230600" cy="718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74"/>
              </a:lnSpc>
            </a:pPr>
            <a:r>
              <a:rPr lang="en-US" b="true" sz="293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Key Takeaways from the Analysis: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Hourly 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analysis wasn’t possible due to missing timestamps in the job_data table, but reviews only occurred on 3 days - showing very low activity.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7-day rolling average provided a smoother and more accurate performance view.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Persian had the highest language share, with five other languages equally used.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No duplicate rows were found - the data was already clean.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User engagement changed weekly, highlighting active and quiet periods.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Users accessed the platform from mobile, desktop, and tablet devices.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User sign-ups showed steady growth over time.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Retention couldn’t be measured due to unmatched user IDs, but the logic was clearly understood.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43074" y="3702285"/>
            <a:ext cx="4644926" cy="6485369"/>
          </a:xfrm>
          <a:custGeom>
            <a:avLst/>
            <a:gdLst/>
            <a:ahLst/>
            <a:cxnLst/>
            <a:rect r="r" b="b" t="t" l="l"/>
            <a:pathLst>
              <a:path h="6485369" w="4644926">
                <a:moveTo>
                  <a:pt x="4644926" y="0"/>
                </a:moveTo>
                <a:lnTo>
                  <a:pt x="0" y="0"/>
                </a:lnTo>
                <a:lnTo>
                  <a:pt x="0" y="6485369"/>
                </a:lnTo>
                <a:lnTo>
                  <a:pt x="4644926" y="6485369"/>
                </a:lnTo>
                <a:lnTo>
                  <a:pt x="4644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18413" y="570879"/>
            <a:ext cx="13547124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95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RESULT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8413" y="2121218"/>
            <a:ext cx="13451174" cy="587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20"/>
              </a:lnSpc>
            </a:pPr>
            <a:r>
              <a:rPr lang="en-US" b="true" sz="2900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What I learned through this project: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used SQL to answer real business questions and solve practical problems.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learned how to find trends in user activity, growth, and engagement.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 practiced writing advanced queries like rolling averages and retention logic.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 got better at working with different tables and handling data issues.</a:t>
            </a:r>
          </a:p>
          <a:p>
            <a:pPr algn="just" marL="626111" indent="-31305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project made me more confid</a:t>
            </a:r>
            <a:r>
              <a:rPr lang="en-US" sz="29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ent in using data to understand and explain what’s happening.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62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330646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192312"/>
            <a:ext cx="16230600" cy="201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47"/>
              </a:lnSpc>
            </a:pPr>
            <a:r>
              <a:rPr lang="en-US" b="true" sz="1404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DAGrWFRuX_k</dc:identifier>
  <dcterms:modified xsi:type="dcterms:W3CDTF">2011-08-01T06:04:30Z</dcterms:modified>
  <cp:revision>1</cp:revision>
  <dc:title>Project - Operation Analytics and Investigating Metric Spike</dc:title>
</cp:coreProperties>
</file>